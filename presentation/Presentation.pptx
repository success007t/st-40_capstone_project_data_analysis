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Sheet1!$F$1</c:f>
              <c:strCache>
                <c:ptCount val="1"/>
                <c:pt idx="0">
                  <c:v>Payment Method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19252376742265581"/>
                  <c:y val="-5.4756501410642054E-2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83281958547138"/>
                      <c:h val="0.19354175090842515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7620819391226128"/>
                  <c:y val="8.6045930788151842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22352348556148827"/>
                  <c:y val="3.1289429377509739E-2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078112285575462"/>
                      <c:h val="0.22483118028593488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-8.810409695613064E-2"/>
                  <c:y val="-8.9957109460340495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Sheet1!$J$2:$J$5</c:f>
              <c:strCache>
                <c:ptCount val="4"/>
                <c:pt idx="0">
                  <c:v>Credit Card</c:v>
                </c:pt>
                <c:pt idx="1">
                  <c:v>Cash</c:v>
                </c:pt>
                <c:pt idx="2">
                  <c:v>Digital Wallet</c:v>
                </c:pt>
                <c:pt idx="3">
                  <c:v>Unknown</c:v>
                </c:pt>
              </c:strCache>
            </c:strRef>
          </c:cat>
          <c:val>
            <c:numRef>
              <c:f>Sheet1!$K$2:$K$5</c:f>
              <c:numCache>
                <c:formatCode>General</c:formatCode>
                <c:ptCount val="4"/>
                <c:pt idx="0">
                  <c:v>2170</c:v>
                </c:pt>
                <c:pt idx="1">
                  <c:v>2158</c:v>
                </c:pt>
                <c:pt idx="2">
                  <c:v>2197</c:v>
                </c:pt>
                <c:pt idx="3">
                  <c:v>3015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 in Microsoft PowerPoint]Sheet2!PivotTable1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Location</a:t>
            </a:r>
          </a:p>
        </c:rich>
      </c:tx>
      <c:layout>
        <c:manualLayout>
          <c:xMode val="edge"/>
          <c:yMode val="edge"/>
          <c:x val="0.34888598001825899"/>
          <c:y val="6.40558907461574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Sheet2!$A$4:$A$7</c:f>
              <c:strCache>
                <c:ptCount val="3"/>
                <c:pt idx="0">
                  <c:v>In-store</c:v>
                </c:pt>
                <c:pt idx="1">
                  <c:v>Takeaway</c:v>
                </c:pt>
                <c:pt idx="2">
                  <c:v>Unknown</c:v>
                </c:pt>
              </c:strCache>
            </c:strRef>
          </c:cat>
          <c:val>
            <c:numRef>
              <c:f>Sheet2!$B$4:$B$7</c:f>
              <c:numCache>
                <c:formatCode>General</c:formatCode>
                <c:ptCount val="3"/>
                <c:pt idx="0">
                  <c:v>2872</c:v>
                </c:pt>
                <c:pt idx="1">
                  <c:v>2889</c:v>
                </c:pt>
                <c:pt idx="2">
                  <c:v>3779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 in Microsoft PowerPoint]Sheet2!PivotTable1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</a:t>
            </a:r>
            <a:r>
              <a:rPr lang="en-US" baseline="0" dirty="0" smtClean="0"/>
              <a:t> Spent on Items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755638748574535"/>
          <c:y val="0.11099956255468066"/>
          <c:w val="0.76516926940317231"/>
          <c:h val="0.7094798775153106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Sheet1!$B:$B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Sheet1!$B:$B</c:f>
              <c:strCache>
                <c:ptCount val="9"/>
                <c:pt idx="0">
                  <c:v>Cake</c:v>
                </c:pt>
                <c:pt idx="1">
                  <c:v>Coffee</c:v>
                </c:pt>
                <c:pt idx="2">
                  <c:v>Cookie</c:v>
                </c:pt>
                <c:pt idx="3">
                  <c:v>Juice</c:v>
                </c:pt>
                <c:pt idx="4">
                  <c:v>Salad</c:v>
                </c:pt>
                <c:pt idx="5">
                  <c:v>Sandwich</c:v>
                </c:pt>
                <c:pt idx="6">
                  <c:v>Smoothie</c:v>
                </c:pt>
                <c:pt idx="7">
                  <c:v>Tea</c:v>
                </c:pt>
                <c:pt idx="8">
                  <c:v>Unknown</c:v>
                </c:pt>
              </c:strCache>
            </c:strRef>
          </c:cat>
          <c:val>
            <c:numRef>
              <c:f>Sheet1!$B:$B</c:f>
              <c:numCache>
                <c:formatCode>General</c:formatCode>
                <c:ptCount val="9"/>
                <c:pt idx="0">
                  <c:v>9009</c:v>
                </c:pt>
                <c:pt idx="1">
                  <c:v>6210</c:v>
                </c:pt>
                <c:pt idx="2">
                  <c:v>2775</c:v>
                </c:pt>
                <c:pt idx="3">
                  <c:v>9108</c:v>
                </c:pt>
                <c:pt idx="4">
                  <c:v>14890</c:v>
                </c:pt>
                <c:pt idx="5">
                  <c:v>11680</c:v>
                </c:pt>
                <c:pt idx="6">
                  <c:v>11608</c:v>
                </c:pt>
                <c:pt idx="7">
                  <c:v>4179</c:v>
                </c:pt>
                <c:pt idx="8">
                  <c:v>7231.5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00258776"/>
        <c:axId val="300254856"/>
        <c:extLst/>
      </c:barChart>
      <c:catAx>
        <c:axId val="30025877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Items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254856"/>
        <c:crosses val="autoZero"/>
        <c:auto val="1"/>
        <c:lblAlgn val="ctr"/>
        <c:lblOffset val="100"/>
        <c:noMultiLvlLbl val="0"/>
      </c:catAx>
      <c:valAx>
        <c:axId val="300254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mtClean="0"/>
                  <a:t>Total Spent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258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 in Microsoft PowerPoint]Sheet2!PivotTable1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 Spent in</a:t>
            </a:r>
            <a:r>
              <a:rPr lang="en-US" baseline="0" dirty="0" smtClean="0"/>
              <a:t> Locations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Sheet1!$H$2:$H$5</c:f>
              <c:strCache>
                <c:ptCount val="3"/>
                <c:pt idx="0">
                  <c:v>In-store</c:v>
                </c:pt>
                <c:pt idx="1">
                  <c:v>Takeaway</c:v>
                </c:pt>
                <c:pt idx="2">
                  <c:v>Unknown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3"/>
                <c:pt idx="0">
                  <c:v>23428.5</c:v>
                </c:pt>
                <c:pt idx="1">
                  <c:v>22787</c:v>
                </c:pt>
                <c:pt idx="2">
                  <c:v>30475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0256424"/>
        <c:axId val="300260736"/>
      </c:barChart>
      <c:catAx>
        <c:axId val="3002564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Location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260736"/>
        <c:crosses val="autoZero"/>
        <c:auto val="1"/>
        <c:lblAlgn val="ctr"/>
        <c:lblOffset val="100"/>
        <c:noMultiLvlLbl val="0"/>
      </c:catAx>
      <c:valAx>
        <c:axId val="300260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mtClean="0"/>
                  <a:t>Total Spent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256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 in Microsoft PowerPoint]Sheet2!PivotTable1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mtClean="0"/>
              <a:t>Total Spent per Month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Sheet2!$A$4:$A$16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Sheet2!$B$4:$B$16</c:f>
              <c:numCache>
                <c:formatCode>General</c:formatCode>
                <c:ptCount val="12"/>
                <c:pt idx="0">
                  <c:v>6452.5</c:v>
                </c:pt>
                <c:pt idx="1">
                  <c:v>6055</c:v>
                </c:pt>
                <c:pt idx="2">
                  <c:v>6482</c:v>
                </c:pt>
                <c:pt idx="3">
                  <c:v>6485.5</c:v>
                </c:pt>
                <c:pt idx="4">
                  <c:v>6191</c:v>
                </c:pt>
                <c:pt idx="5">
                  <c:v>6678</c:v>
                </c:pt>
                <c:pt idx="6">
                  <c:v>6366.5</c:v>
                </c:pt>
                <c:pt idx="7">
                  <c:v>6453</c:v>
                </c:pt>
                <c:pt idx="8">
                  <c:v>6209.5</c:v>
                </c:pt>
                <c:pt idx="9">
                  <c:v>6512</c:v>
                </c:pt>
                <c:pt idx="10">
                  <c:v>6418</c:v>
                </c:pt>
                <c:pt idx="11">
                  <c:v>6387.5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2927664"/>
        <c:axId val="302929624"/>
      </c:lineChart>
      <c:catAx>
        <c:axId val="3029276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Month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929624"/>
        <c:crosses val="autoZero"/>
        <c:auto val="1"/>
        <c:lblAlgn val="ctr"/>
        <c:lblOffset val="100"/>
        <c:noMultiLvlLbl val="0"/>
      </c:catAx>
      <c:valAx>
        <c:axId val="302929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Total Spent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927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 </a:t>
            </a:r>
            <a:r>
              <a:rPr lang="en-US" dirty="0" smtClean="0"/>
              <a:t>Spent </a:t>
            </a:r>
            <a:r>
              <a:rPr lang="en-US" smtClean="0"/>
              <a:t>in Location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Spent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Sheet1!$B$2:$B$8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12978.5</c:v>
                </c:pt>
                <c:pt idx="1">
                  <c:v>11165.5</c:v>
                </c:pt>
                <c:pt idx="2">
                  <c:v>9851.5</c:v>
                </c:pt>
                <c:pt idx="3">
                  <c:v>9812.5</c:v>
                </c:pt>
                <c:pt idx="4">
                  <c:v>10491</c:v>
                </c:pt>
                <c:pt idx="5">
                  <c:v>10681</c:v>
                </c:pt>
                <c:pt idx="6">
                  <c:v>11710.5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2930016"/>
        <c:axId val="302930408"/>
      </c:barChart>
      <c:catAx>
        <c:axId val="3029300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Location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930408"/>
        <c:crosses val="autoZero"/>
        <c:auto val="1"/>
        <c:lblAlgn val="ctr"/>
        <c:lblOffset val="100"/>
        <c:noMultiLvlLbl val="0"/>
      </c:catAx>
      <c:valAx>
        <c:axId val="302930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mtClean="0"/>
                  <a:t>Total</a:t>
                </a:r>
                <a:r>
                  <a:rPr lang="en-US" baseline="0" smtClean="0"/>
                  <a:t> Spent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930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365389"/>
          </a:xfrm>
        </p:spPr>
        <p:txBody>
          <a:bodyPr/>
          <a:lstStyle/>
          <a:p>
            <a:r>
              <a:rPr lang="en-US" sz="3600" dirty="0" smtClean="0"/>
              <a:t>Presentation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Sales Report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643252"/>
            <a:ext cx="8825658" cy="99554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st@40 capstone project</a:t>
            </a:r>
          </a:p>
          <a:p>
            <a:r>
              <a:rPr lang="en-US" dirty="0" smtClean="0"/>
              <a:t>January 2023 – February 2023</a:t>
            </a:r>
          </a:p>
          <a:p>
            <a:r>
              <a:rPr lang="en-US" dirty="0" err="1" smtClean="0"/>
              <a:t>Umazayi</a:t>
            </a:r>
            <a:r>
              <a:rPr lang="en-US" dirty="0" smtClean="0"/>
              <a:t> success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65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Performance Indicators (KPI’s)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9955" y="3046152"/>
            <a:ext cx="3250791" cy="2380871"/>
          </a:xfrm>
        </p:spPr>
        <p:txBody>
          <a:bodyPr>
            <a:normAutofit/>
          </a:bodyPr>
          <a:lstStyle/>
          <a:p>
            <a:r>
              <a:rPr lang="en-US" sz="1600" dirty="0"/>
              <a:t>During the reporting period, a total of </a:t>
            </a:r>
            <a:r>
              <a:rPr lang="en-US" sz="1600" b="1" dirty="0"/>
              <a:t>9 distinct items</a:t>
            </a:r>
            <a:r>
              <a:rPr lang="en-US" sz="1600" dirty="0"/>
              <a:t> were sold across </a:t>
            </a:r>
            <a:r>
              <a:rPr lang="en-US" sz="1600" b="1" dirty="0"/>
              <a:t>9,540 transactions</a:t>
            </a:r>
            <a:r>
              <a:rPr lang="en-US" sz="1600" dirty="0"/>
              <a:t>, generating </a:t>
            </a:r>
            <a:r>
              <a:rPr lang="en-US" sz="1600" b="1" dirty="0"/>
              <a:t>₦76.69K in total revenue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This reflects consistent customer activity and diversified product engagement.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94336" y="1477621"/>
            <a:ext cx="2398815" cy="2066306"/>
          </a:xfrm>
          <a:prstGeom prst="roundRect">
            <a:avLst>
              <a:gd name="adj" fmla="val 11495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Light Condensed" panose="020B0502040204020203" pitchFamily="34" charset="0"/>
              </a:rPr>
              <a:t>9</a:t>
            </a:r>
          </a:p>
          <a:p>
            <a:pPr algn="ctr"/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Light Condensed" panose="020B0502040204020203" pitchFamily="34" charset="0"/>
              </a:rPr>
              <a:t>Distinct items sold</a:t>
            </a:r>
            <a:endParaRPr lang="en-US" sz="1600" b="1" dirty="0">
              <a:solidFill>
                <a:schemeClr val="accent1">
                  <a:lumMod val="20000"/>
                  <a:lumOff val="8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39966" y="1477621"/>
            <a:ext cx="2398815" cy="2066306"/>
          </a:xfrm>
          <a:prstGeom prst="roundRect">
            <a:avLst>
              <a:gd name="adj" fmla="val 11495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Light Condensed" panose="020B0502040204020203" pitchFamily="34" charset="0"/>
              </a:rPr>
              <a:t>76.69 K</a:t>
            </a:r>
          </a:p>
          <a:p>
            <a:pPr algn="ctr"/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Light Condensed" panose="020B0502040204020203" pitchFamily="34" charset="0"/>
              </a:rPr>
              <a:t>Spent</a:t>
            </a:r>
            <a:endParaRPr lang="en-US" sz="1600" b="1" dirty="0">
              <a:solidFill>
                <a:schemeClr val="accent1">
                  <a:lumMod val="20000"/>
                  <a:lumOff val="8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98540" y="3958573"/>
            <a:ext cx="2398815" cy="2066306"/>
          </a:xfrm>
          <a:prstGeom prst="roundRect">
            <a:avLst>
              <a:gd name="adj" fmla="val 11495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Light Condensed" panose="020B0502040204020203" pitchFamily="34" charset="0"/>
              </a:rPr>
              <a:t>9540</a:t>
            </a:r>
          </a:p>
          <a:p>
            <a:pPr algn="ctr"/>
            <a:r>
              <a:rPr lang="en-US" sz="1600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Light Condensed" panose="020B0502040204020203" pitchFamily="34" charset="0"/>
              </a:rPr>
              <a:t>Transanctions</a:t>
            </a:r>
            <a:r>
              <a:rPr lang="en-US" sz="16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Light Condensed" panose="020B0502040204020203" pitchFamily="34" charset="0"/>
              </a:rPr>
              <a:t> made</a:t>
            </a:r>
            <a:endParaRPr lang="en-US" sz="1600" b="1" dirty="0">
              <a:solidFill>
                <a:schemeClr val="accent1">
                  <a:lumMod val="20000"/>
                  <a:lumOff val="80000"/>
                </a:schemeClr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93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54955" y="795647"/>
            <a:ext cx="2793158" cy="1246909"/>
          </a:xfrm>
        </p:spPr>
        <p:txBody>
          <a:bodyPr/>
          <a:lstStyle/>
          <a:p>
            <a:r>
              <a:rPr lang="en-US" dirty="0"/>
              <a:t>Payment &amp; Sales Channel Distribution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/>
          </p:nvPr>
        </p:nvGraphicFramePr>
        <p:xfrm>
          <a:off x="4809817" y="505130"/>
          <a:ext cx="3891987" cy="3247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1154953" y="2268187"/>
            <a:ext cx="2793159" cy="37566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Payment methods are evenly distributed across </a:t>
            </a:r>
            <a:r>
              <a:rPr lang="en-US" b="1" dirty="0"/>
              <a:t>Credit Card (23%)</a:t>
            </a:r>
            <a:r>
              <a:rPr lang="en-US" dirty="0"/>
              <a:t>, </a:t>
            </a:r>
            <a:r>
              <a:rPr lang="en-US" b="1" dirty="0"/>
              <a:t>Digital Wallet (23%)</a:t>
            </a:r>
            <a:r>
              <a:rPr lang="en-US" dirty="0"/>
              <a:t>, and </a:t>
            </a:r>
            <a:r>
              <a:rPr lang="en-US" b="1" dirty="0"/>
              <a:t>Cash (23%)</a:t>
            </a:r>
            <a:r>
              <a:rPr lang="en-US" dirty="0"/>
              <a:t>, while </a:t>
            </a:r>
            <a:r>
              <a:rPr lang="en-US" b="1" dirty="0"/>
              <a:t>31% of transactions are classified as Unknown</a:t>
            </a:r>
            <a:r>
              <a:rPr lang="en-US" dirty="0"/>
              <a:t>, indicating a data capture gap.</a:t>
            </a:r>
          </a:p>
          <a:p>
            <a:r>
              <a:rPr lang="en-US" dirty="0"/>
              <a:t>Sales channels show </a:t>
            </a:r>
            <a:r>
              <a:rPr lang="en-US" b="1" dirty="0"/>
              <a:t>40% recorded as Unknown</a:t>
            </a:r>
            <a:r>
              <a:rPr lang="en-US" dirty="0"/>
              <a:t>, with the remaining transactions split evenly between </a:t>
            </a:r>
            <a:r>
              <a:rPr lang="en-US" b="1" dirty="0"/>
              <a:t>In-Store (30%)</a:t>
            </a:r>
            <a:r>
              <a:rPr lang="en-US" dirty="0"/>
              <a:t> and </a:t>
            </a:r>
            <a:r>
              <a:rPr lang="en-US" b="1" dirty="0"/>
              <a:t>Takeaway (30%)</a:t>
            </a:r>
            <a:r>
              <a:rPr lang="en-US" dirty="0"/>
              <a:t>.</a:t>
            </a:r>
          </a:p>
          <a:p>
            <a:r>
              <a:rPr lang="en-US" dirty="0"/>
              <a:t>This suggests balanced customer payment behavior, but highlights an opportunity to improve transaction classification accuracy.</a:t>
            </a:r>
          </a:p>
        </p:txBody>
      </p:sp>
      <p:graphicFrame>
        <p:nvGraphicFramePr>
          <p:cNvPr id="5" name="Chart 4"/>
          <p:cNvGraphicFramePr/>
          <p:nvPr>
            <p:extLst/>
          </p:nvPr>
        </p:nvGraphicFramePr>
        <p:xfrm>
          <a:off x="6953046" y="3574026"/>
          <a:ext cx="4575277" cy="2775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811491" y="1419101"/>
            <a:ext cx="2945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Payment methods are evenly distributed among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Credit Card (23%)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Digital Wallet (23%)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, and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Cash (23%)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, with no dominant preference. However,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31% of transactions are categorized as Unknown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, indicating a potential gap in payment data recording.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7261" y="5062846"/>
            <a:ext cx="2945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Sales are evenly split between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In-Store (30%)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Takeaway (30%)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, while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40% of transactions are classified as Unknown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, indicating a significant gap in location data capture</a:t>
            </a:r>
          </a:p>
        </p:txBody>
      </p:sp>
    </p:spTree>
    <p:extLst>
      <p:ext uri="{BB962C8B-B14F-4D97-AF65-F5344CB8AC3E}">
        <p14:creationId xmlns:p14="http://schemas.microsoft.com/office/powerpoint/2010/main" val="1448436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399"/>
            <a:ext cx="2793158" cy="1186543"/>
          </a:xfrm>
        </p:spPr>
        <p:txBody>
          <a:bodyPr/>
          <a:lstStyle/>
          <a:p>
            <a:r>
              <a:rPr lang="en-US" dirty="0"/>
              <a:t>Revenue Distribution by Item and Location</a:t>
            </a:r>
          </a:p>
        </p:txBody>
      </p:sp>
      <p:graphicFrame>
        <p:nvGraphicFramePr>
          <p:cNvPr id="20" name="Content Placeholder 1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986732"/>
              </p:ext>
            </p:extLst>
          </p:nvPr>
        </p:nvGraphicFramePr>
        <p:xfrm>
          <a:off x="4868883" y="271957"/>
          <a:ext cx="5549570" cy="3266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2481942"/>
            <a:ext cx="2793158" cy="3542937"/>
          </a:xfrm>
        </p:spPr>
        <p:txBody>
          <a:bodyPr>
            <a:normAutofit/>
          </a:bodyPr>
          <a:lstStyle/>
          <a:p>
            <a:r>
              <a:rPr lang="en-US" dirty="0"/>
              <a:t>Salad is the top revenue-generating product, followed by Smoothie and Sandwich, indicating strong demand in these categories. Lower-performing items include Coffee, Tea, and Cookie.</a:t>
            </a:r>
          </a:p>
          <a:p>
            <a:r>
              <a:rPr lang="en-US" dirty="0"/>
              <a:t>By location, the highest total spend is recorded under </a:t>
            </a:r>
            <a:r>
              <a:rPr lang="en-US" b="1" dirty="0"/>
              <a:t>Unknown</a:t>
            </a:r>
            <a:r>
              <a:rPr lang="en-US" dirty="0"/>
              <a:t>, surpassing both In-Store and Takeaway sales. This suggests a potential gap in sales channel classification that may impact performance analysis</a:t>
            </a:r>
          </a:p>
          <a:p>
            <a:endParaRPr lang="en-US" dirty="0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97919971"/>
              </p:ext>
            </p:extLst>
          </p:nvPr>
        </p:nvGraphicFramePr>
        <p:xfrm>
          <a:off x="5429250" y="3586163"/>
          <a:ext cx="5130800" cy="2737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5437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433513"/>
          </a:xfrm>
        </p:spPr>
        <p:txBody>
          <a:bodyPr/>
          <a:lstStyle/>
          <a:p>
            <a:r>
              <a:rPr lang="en-US" b="1"/>
              <a:t>Sales Trend </a:t>
            </a:r>
            <a:r>
              <a:rPr lang="en-US" b="1" smtClean="0"/>
              <a:t>Analysis</a:t>
            </a:r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520195"/>
              </p:ext>
            </p:extLst>
          </p:nvPr>
        </p:nvGraphicFramePr>
        <p:xfrm>
          <a:off x="5104781" y="0"/>
          <a:ext cx="4894625" cy="36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2728914"/>
            <a:ext cx="2793158" cy="3295966"/>
          </a:xfrm>
        </p:spPr>
        <p:txBody>
          <a:bodyPr/>
          <a:lstStyle/>
          <a:p>
            <a:r>
              <a:rPr lang="en-US" dirty="0"/>
              <a:t>Monthly spending remains relatively stable throughout the year, with a peak in June and lower performance in February and September.</a:t>
            </a:r>
          </a:p>
          <a:p>
            <a:r>
              <a:rPr lang="en-US" dirty="0"/>
              <a:t>Weekly analysis shows strongest sales at the beginning and end of the week, particularly on Monday and Sunday, while midweek performance is slightly lower.</a:t>
            </a:r>
          </a:p>
          <a:p>
            <a:endParaRPr lang="en-US" dirty="0"/>
          </a:p>
        </p:txBody>
      </p:sp>
      <p:graphicFrame>
        <p:nvGraphicFramePr>
          <p:cNvPr id="6" name="Chart 5"/>
          <p:cNvGraphicFramePr/>
          <p:nvPr>
            <p:extLst/>
          </p:nvPr>
        </p:nvGraphicFramePr>
        <p:xfrm>
          <a:off x="5463970" y="3593493"/>
          <a:ext cx="5401952" cy="3068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70929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60</TotalTime>
  <Words>365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Bahnschrift Light Condensed</vt:lpstr>
      <vt:lpstr>Century Gothic</vt:lpstr>
      <vt:lpstr>Wingdings 3</vt:lpstr>
      <vt:lpstr>Ion Boardroom</vt:lpstr>
      <vt:lpstr>Presentation Sales Report</vt:lpstr>
      <vt:lpstr>Key Performance Indicators (KPI’s)</vt:lpstr>
      <vt:lpstr>Payment &amp; Sales Channel Distribution</vt:lpstr>
      <vt:lpstr>Revenue Distribution by Item and Location</vt:lpstr>
      <vt:lpstr>Sales Trend Analysis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Sales Report</dc:title>
  <dc:creator>man</dc:creator>
  <cp:lastModifiedBy>man</cp:lastModifiedBy>
  <cp:revision>20</cp:revision>
  <dcterms:created xsi:type="dcterms:W3CDTF">2026-02-23T18:48:58Z</dcterms:created>
  <dcterms:modified xsi:type="dcterms:W3CDTF">2026-02-26T11:54:38Z</dcterms:modified>
</cp:coreProperties>
</file>